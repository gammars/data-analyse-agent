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7a266dc0a342e2" /><Relationship Type="http://schemas.openxmlformats.org/officeDocument/2006/relationships/extended-properties" Target="/docProps/app.xml" Id="Rcad2c13ddf3348b4" /><Relationship Type="http://schemas.openxmlformats.org/officeDocument/2006/relationships/officeDocument" Target="/ppt/presentation.xml" Id="R3314862bddc04a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a1106873fa4582"/>
  </p:sldMasterIdLst>
  <p:notesMasterIdLst>
    <p:notesMasterId xmlns:r="http://schemas.openxmlformats.org/officeDocument/2006/relationships" r:id="R370f2ce609454246"/>
  </p:notesMasterIdLst>
  <p:sldIdLst>
    <p:sldId xmlns:r="http://schemas.openxmlformats.org/officeDocument/2006/relationships" id="256" r:id="R2e9187c24dfa4ff0"/>
    <p:sldId xmlns:r="http://schemas.openxmlformats.org/officeDocument/2006/relationships" id="257" r:id="Re94b4dadba674cb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48ef60e78d47fe" /><Relationship Type="http://schemas.openxmlformats.org/officeDocument/2006/relationships/slideMaster" Target="/ppt/slideMasters/slideMaster1.xml" Id="Rfca1106873fa4582" /><Relationship Type="http://schemas.openxmlformats.org/officeDocument/2006/relationships/notesMaster" Target="/ppt/notesMasters/notesMaster1.xml" Id="R370f2ce609454246" /><Relationship Type="http://schemas.openxmlformats.org/officeDocument/2006/relationships/presProps" Target="/ppt/presProps.xml" Id="R4a7e5449bb9d497c" /><Relationship Type="http://schemas.openxmlformats.org/officeDocument/2006/relationships/tableStyles" Target="/ppt/tableStyles.xml" Id="Reacad170ffff49ad" /><Relationship Type="http://schemas.openxmlformats.org/officeDocument/2006/relationships/slide" Target="/ppt/slides/slide1.xml" Id="R2e9187c24dfa4ff0" /><Relationship Type="http://schemas.openxmlformats.org/officeDocument/2006/relationships/slide" Target="/ppt/slides/slide2.xml" Id="Re94b4dadba674c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69a73d2f1946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6bc845e7ef42be" /><Relationship Type="http://schemas.openxmlformats.org/officeDocument/2006/relationships/notesMaster" Target="/ppt/notesMasters/notesMaster1.xml" Id="R53d3507dd6884c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25e97798c849ec" /><Relationship Type="http://schemas.openxmlformats.org/officeDocument/2006/relationships/notesMaster" Target="/ppt/notesMasters/notesMaster1.xml" Id="R232afd1380e84f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建议用两分三十秒讲这一页。开场十五秒：我做的是本地多表数据分析 Agent，重点不是让模型写 SQL，而是控制它何时、如何、在哪里执行。然后用二十秒讲四个问题：Schema 可能猜错、无关问题误调用、复杂统计不适合 SQL、动态代码不安全。接着沿流程图讲：文件先物化为 SQLite 并维护 Manifest 和关系；ScopeRouter 先判断是否进入分析；Planner 最多生成五步；运行时每一步只绑定白名单工具；简单聚合走只读 SQL，基础图表走固定工具，复杂统计进入 Docker Python。工具返回后先做结构化成功或失败判断；失败进入 Reflection，提取错误归因和 retry hint，按策略修正后重试；成功才生成 Artifact 并进入最终解释。用底部核心原则收束。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建议用一分五十秒讲这一页。第一，受控规划：Scope 决定是否分析，Planner 最多五步，每一步重新 bind_tools，并按工具设置不同重试次数。第二，双执行引擎：SQL 负责确定性查询并使用多层只读保护；复杂分析把 SQL 结果转为 JSON，再进入禁网和限资源的 Docker，强调只是降低风险。第三，Reflection 与记忆：工具失败后先提取错误归因和 retry hint，驱动本轮修正重试；失败本身不会直接写入长期记忆，只有后续成功才保存经验，并附 Schema 指纹。Artifact 只保留摘要和预览。最后给出三十一条确定性评测和六十九条单元测试，但说明这不是泛化准确率。总时长约四分二十秒，余下时间留给老师提问。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bbea8e4d943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58422edd5543ba" /><Relationship Type="http://schemas.openxmlformats.org/officeDocument/2006/relationships/slideLayout" Target="/ppt/slideLayouts/slideLayout1.xml" Id="R3218b79705fe4c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18b79705fe4c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741627a914702" /><Relationship Type="http://schemas.openxmlformats.org/officeDocument/2006/relationships/notesSlide" Target="/ppt/notesSlides/notesSlide1.xml" Id="Reb516752aa5242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0660ee76a462d" /><Relationship Type="http://schemas.openxmlformats.org/officeDocument/2006/relationships/notesSlide" Target="/ppt/notesSlides/notesSlide2.xml" Id="R09aaf27160b648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AE87BB-2F98-4367-AD92-3CD51DCB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DATA ANALYSE AGENT · 陈俊宇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A9511-309A-4145-AB00-86B4EA71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核心不是让模型会写 SQL，而是让它安全地使用数据工具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2D9E6-1D94-4714-B528-9CD8846A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04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EB04D-ABE3-43A5-A458-BDECD99D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D54F3-F85B-4325-A843-B70E6FE2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2571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5F527-FFBC-4920-B101-4536CDD7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Schema 易猜错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B5B34-111D-49A8-881E-3C7758BF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38275"/>
            <a:ext cx="2571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5D387-CD42-424B-8391-9B1B616A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002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无关问题误调用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7136F-60BF-4F0F-BF3D-6F2EB588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38275"/>
            <a:ext cx="2571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40127-3F48-46CD-BB92-0B79EC4A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002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复杂统计超出 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DD7C7-5EB2-4F2A-AE41-4B3DADAA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38275"/>
            <a:ext cx="2571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99213-1999-49D3-B91A-06FEEE15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002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生成代码有风险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31E49-BD53-415C-8DE8-168F79E6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539D2-E176-45A4-9D40-9268DFD4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1428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CSV / Excel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4D22C-B5DF-4BE1-9316-F04FA598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66925"/>
            <a:ext cx="23812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SQLite + Manifest</a:t>
            </a:r>
          </a:p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真实 Schema + 多表关系</a:t>
            </a:r>
          </a:p>
        </p:txBody>
      </p:sp>
      <p:cxnSp>
        <p:nvCxnSpPr>
          <p:cNvPr id="64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048000" y="2428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D9D81D-7D13-4F54-8451-98D35F85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控制面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704C3-3E25-496A-B783-65A988B1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52775"/>
            <a:ext cx="1428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用户问题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65301-64A2-407B-9BE7-89913F2D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67050"/>
            <a:ext cx="1809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ScopeRouter</a:t>
            </a:r>
          </a:p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是否该分析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7C371E-671F-4252-8BB6-0306E38E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67050"/>
            <a:ext cx="17145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Planner</a:t>
            </a:r>
          </a:p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最多 5 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2966F4-DAA8-44AE-87FB-F70C0F91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67050"/>
            <a:ext cx="2333625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Step Executor</a:t>
            </a:r>
          </a:p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每步只绑定白名单工具</a:t>
            </a:r>
          </a:p>
        </p:txBody>
      </p:sp>
      <p:cxnSp>
        <p:nvCxnSpPr>
          <p:cNvPr id="70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048000" y="34575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334000" y="34575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2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524750" y="34575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3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4429125" y="2790825"/>
            <a:ext cx="285750" cy="2762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F766E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DA875D-5ACD-4112-8EE4-CAFF1D69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执行面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11F443-6B59-43BF-BF0D-BD4BFF00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76725"/>
            <a:ext cx="58102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5A0C10-5BCC-480A-85C0-D14C2516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196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简单聚合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73B173-34BB-4B69-9DC5-06E1EF0B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9582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只读 SQL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035C5F-5DF9-4EB2-B37C-CA8FC7FD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196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基础图表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40AE41-DE9F-4950-B956-ABBF3A15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6958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固定分析工具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E29032-44EB-49B0-85E4-7DFE15B8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19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复杂统计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240999-0183-4EAE-958E-372B1745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958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Docker Python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5EDCCA-2FD4-4F4E-8923-00194604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1960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669"/>
          </a:solidFill>
          <a:ln xmlns:a="http://schemas.openxmlformats.org/drawingml/2006/main" w="0">
            <a:solidFill>
              <a:srgbClr val="E7C66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3850FB-E9FB-432C-B273-7B546900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41960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669"/>
          </a:solidFill>
          <a:ln xmlns:a="http://schemas.openxmlformats.org/drawingml/2006/main" w="0">
            <a:solidFill>
              <a:srgbClr val="E7C66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CAFD8E-203C-4E7E-8290-8CF87081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0075"/>
            <a:ext cx="1143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solidFill>
              <a:srgbClr val="F3F4F6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结果判断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2925F0-D48D-46FE-B763-34AFADEA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33875"/>
            <a:ext cx="188595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Artifact</a:t>
            </a:r>
          </a:p>
          <a:p xmlns:a="http://schemas.openxmlformats.org/drawingml/2006/main">
            <a:pPr algn="ctr">
              <a:defRPr sz="120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摘要 → 最终解释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F9BDEF-3D75-427B-B0DD-0F7AE8BC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81625"/>
            <a:ext cx="2571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Reflection：错误归因 + retry hint</a:t>
            </a:r>
          </a:p>
          <a:p xmlns:a="http://schemas.openxmlformats.org/drawingml/2006/main">
            <a:pPr algn="ctr">
              <a:defRPr sz="112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按策略修正并重试</a:t>
            </a:r>
          </a:p>
        </p:txBody>
      </p:sp>
      <p:cxnSp>
        <p:nvCxnSpPr>
          <p:cNvPr id="87" name=""/>
          <p:cNvCxnSpPr>
            <a:stCxn xmlns:a="http://schemas.openxmlformats.org/drawingml/2006/main" id="21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4524375" y="3848100"/>
            <a:ext cx="4643438" cy="428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88" name=""/>
          <p:cNvCxnSpPr>
            <a:stCxn xmlns:a="http://schemas.openxmlformats.org/drawingml/2006/main" id="27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7429500" y="4714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89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8953500" y="47148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803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90" name=""/>
          <p:cNvCxnSpPr>
            <a:stCxn xmlns:a="http://schemas.openxmlformats.org/drawingml/2006/main" id="36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8382000" y="5019675"/>
            <a:ext cx="619125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2413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91" name=""/>
          <p:cNvCxnSpPr>
            <a:stCxn xmlns:a="http://schemas.openxmlformats.org/drawingml/2006/main" id="38" idx="1"/>
            <a:endCxn xmlns:a="http://schemas.openxmlformats.org/drawingml/2006/main" id="27" idx="2"/>
          </p:cNvCxnSpPr>
          <p:nvPr/>
        </p:nvCxnSpPr>
        <p:spPr>
          <a:xfrm xmlns:a="http://schemas.openxmlformats.org/drawingml/2006/main" flipH="1" flipV="1">
            <a:off x="4524375" y="5153025"/>
            <a:ext cx="3190875" cy="50482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C2413B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41DDB0-0E6F-4BEF-9CC5-61B6D18F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767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成功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4E9AD0-CB52-4CBE-BD23-D719CACF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435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AD7A96-9481-4280-B695-CCFA5C27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153150"/>
            <a:ext cx="1017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核心原则：先判断能不能做，再规划怎么做；失败先反思并修正，成功结果结构化后再进入总结。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0A4490-02E0-47E9-AE7E-6EAF7DDF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个人项目｜FastAPI · LangChain · SQLite · Pandas · Docker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52A770-0E3E-496E-8D9A-13579BB2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保研面试核心版</a:t>
            </a:r>
          </a:p>
        </p:txBody>
      </p:sp>
    </p:spTree>
    <p:extLst>
      <p:ext uri="{BB962C8B-B14F-4D97-AF65-F5344CB8AC3E}">
        <p14:creationId xmlns:p14="http://schemas.microsoft.com/office/powerpoint/2010/main" val="1344744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FEF772-3F99-41C3-AAA5-3EB6BAE3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DATA ANALYSE AGENT · 陈俊宇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C98F4-006D-48BA-8DA1-B96CF863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三个机制把 Demo 变成可控、可解释、可评测的原型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BC920-F49E-4B72-8365-F27B3E1C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04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5A94B-34B5-4E75-9AAF-F3B55105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723F8-7473-4C17-A89F-3C537B00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33909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3C05C-7C19-4022-988B-CE9DCACF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  受控规划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5E273-4A38-4049-851B-45A27835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04950"/>
            <a:ext cx="33909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86A09-95E5-4CE6-8A0D-25FE50C9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907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02  双执行引擎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B2C22-AB4F-4162-B863-28D4163B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04950"/>
            <a:ext cx="33909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DA97E-DB42-4E96-A4AC-4A33E9A5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907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03  Reflection 与记忆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9D6A1-4871-42A5-80FC-33BCD965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Scope 四分类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决定是否进入 Planner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39D0CF-F9E2-4F1D-AC47-4D60D9B8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289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最多 5 步，按步 bind_tools</a:t>
            </a:r>
          </a:p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Python 重试 3 次，SQL / 图表 2 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5BD2D-1688-4B31-A511-2515B001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收益：工具选择从自由生成</a:t>
            </a:r>
          </a:p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变为意图约束下的受控选择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0BAC6-B8C2-455F-A581-AEFAF58B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SQL：只读 URI、query_only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authorizer、超时与行数限制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DDBC9-AE10-4C25-99A4-517A6B7F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575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Python：SQL 结果 → JSON</a:t>
            </a:r>
          </a:p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Docker 禁网、限资源、静态检查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229328-47DC-4A3F-9D8D-5A7E74F2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433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边界：降低执行风险</a:t>
            </a:r>
          </a:p>
          <a:p xmlns:a="http://schemas.openxmlformats.org/drawingml/2006/main">
            <a:pPr algn="l">
              <a:defRPr sz="12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不等于绝对安全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11667-07FC-497D-9FED-CEC9288F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工具失败 → Reflection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错误归因 + retry hint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6ECA7D-2FB6-430A-849A-0C20EC3A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575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修正成功才写入 Dataset Memory</a:t>
            </a:r>
          </a:p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Schema 指纹控制记忆失效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A2B86A-19E3-4581-A664-B0F6CB87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433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避免重复犯错，也避免长结果</a:t>
            </a:r>
          </a:p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反复占用上下文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53ECFA-C3FC-49FD-AE0F-7C9BE0BA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24765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134D4-9927-4805-9E7C-4E8C628F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49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31 / 31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4A4437-BE70-47C1-8F23-706C2859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72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确定性评测通过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490E45-40D7-48B7-AB6B-B9F9F436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43500"/>
            <a:ext cx="180975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025141-3C02-439E-A764-04694108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1495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69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602B29-B197-4D04-983B-E3A4AB6F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721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单元测试通过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984685-F618-4A46-B514-CB312D20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43500"/>
            <a:ext cx="657225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solidFill>
              <a:srgbClr val="F3F4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B47E05-9F29-4180-9A31-F39169CE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314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219890-86A9-456B-843D-5487EE01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67325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扩大真实任务评测；比较不同路由与规划策略；通过消融实验验证失败记忆是否真正降低重复错误。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0E272B-D563-4889-8F05-F73F4A56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8102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31/31 是回归用例通过率，不是模型在真实任务中的 100% 准确率。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CED19C-318E-4C1F-9B5E-44DF6B3A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个人项目｜FastAPI · LangChain · SQLite · Pandas · Docker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99ABDB-A30F-4098-A4ED-77559869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保研面试核心版</a:t>
            </a:r>
          </a:p>
        </p:txBody>
      </p:sp>
    </p:spTree>
    <p:extLst>
      <p:ext uri="{BB962C8B-B14F-4D97-AF65-F5344CB8AC3E}">
        <p14:creationId xmlns:p14="http://schemas.microsoft.com/office/powerpoint/2010/main" val="926234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2026-07-14T03:20:10.9140000Z</dcterms:created>
  <dcterms:modified xsi:type="dcterms:W3CDTF">2026-07-14T03:20:10.9140000Z</dcterms:modified>
</coreProperties>
</file>